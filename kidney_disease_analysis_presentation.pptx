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46BA40-FC77-42F4-A95A-084614C7B2C5}" v="13" dt="2025-12-06T17:09:49.9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2" d="100"/>
          <a:sy n="42" d="100"/>
        </p:scale>
        <p:origin x="1260" y="2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玳如 劉" userId="57117983bbab1dfe" providerId="LiveId" clId="{88C8B942-2A23-4B58-AE9A-40DBB63FF690}"/>
    <pc:docChg chg="custSel delSld modSld sldOrd">
      <pc:chgData name="玳如 劉" userId="57117983bbab1dfe" providerId="LiveId" clId="{88C8B942-2A23-4B58-AE9A-40DBB63FF690}" dt="2025-12-06T17:10:04.912" v="209" actId="14100"/>
      <pc:docMkLst>
        <pc:docMk/>
      </pc:docMkLst>
      <pc:sldChg chg="modSp mod ord">
        <pc:chgData name="玳如 劉" userId="57117983bbab1dfe" providerId="LiveId" clId="{88C8B942-2A23-4B58-AE9A-40DBB63FF690}" dt="2025-12-06T16:35:27.400" v="31" actId="255"/>
        <pc:sldMkLst>
          <pc:docMk/>
          <pc:sldMk cId="0" sldId="256"/>
        </pc:sldMkLst>
        <pc:spChg chg="mod">
          <ac:chgData name="玳如 劉" userId="57117983bbab1dfe" providerId="LiveId" clId="{88C8B942-2A23-4B58-AE9A-40DBB63FF690}" dt="2025-12-06T16:35:20.248" v="30" actId="255"/>
          <ac:spMkLst>
            <pc:docMk/>
            <pc:sldMk cId="0" sldId="256"/>
            <ac:spMk id="2" creationId="{00000000-0000-0000-0000-000000000000}"/>
          </ac:spMkLst>
        </pc:spChg>
        <pc:spChg chg="mod">
          <ac:chgData name="玳如 劉" userId="57117983bbab1dfe" providerId="LiveId" clId="{88C8B942-2A23-4B58-AE9A-40DBB63FF690}" dt="2025-12-06T16:35:20.248" v="30" actId="255"/>
          <ac:spMkLst>
            <pc:docMk/>
            <pc:sldMk cId="0" sldId="256"/>
            <ac:spMk id="3" creationId="{00000000-0000-0000-0000-000000000000}"/>
          </ac:spMkLst>
        </pc:spChg>
        <pc:spChg chg="mod">
          <ac:chgData name="玳如 劉" userId="57117983bbab1dfe" providerId="LiveId" clId="{88C8B942-2A23-4B58-AE9A-40DBB63FF690}" dt="2025-12-06T16:35:27.400" v="31" actId="255"/>
          <ac:spMkLst>
            <pc:docMk/>
            <pc:sldMk cId="0" sldId="256"/>
            <ac:spMk id="4" creationId="{00000000-0000-0000-0000-000000000000}"/>
          </ac:spMkLst>
        </pc:spChg>
      </pc:sldChg>
      <pc:sldChg chg="addSp modSp mod">
        <pc:chgData name="玳如 劉" userId="57117983bbab1dfe" providerId="LiveId" clId="{88C8B942-2A23-4B58-AE9A-40DBB63FF690}" dt="2025-12-06T16:57:54.747" v="128" actId="1076"/>
        <pc:sldMkLst>
          <pc:docMk/>
          <pc:sldMk cId="0" sldId="257"/>
        </pc:sldMkLst>
        <pc:spChg chg="mod">
          <ac:chgData name="玳如 劉" userId="57117983bbab1dfe" providerId="LiveId" clId="{88C8B942-2A23-4B58-AE9A-40DBB63FF690}" dt="2025-12-06T16:35:51.294" v="35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玳如 劉" userId="57117983bbab1dfe" providerId="LiveId" clId="{88C8B942-2A23-4B58-AE9A-40DBB63FF690}" dt="2025-12-06T16:36:13.645" v="39" actId="27636"/>
          <ac:spMkLst>
            <pc:docMk/>
            <pc:sldMk cId="0" sldId="257"/>
            <ac:spMk id="3" creationId="{00000000-0000-0000-0000-000000000000}"/>
          </ac:spMkLst>
        </pc:spChg>
        <pc:picChg chg="add mod">
          <ac:chgData name="玳如 劉" userId="57117983bbab1dfe" providerId="LiveId" clId="{88C8B942-2A23-4B58-AE9A-40DBB63FF690}" dt="2025-12-06T16:57:54.747" v="128" actId="1076"/>
          <ac:picMkLst>
            <pc:docMk/>
            <pc:sldMk cId="0" sldId="257"/>
            <ac:picMk id="5" creationId="{2A904552-A3DA-B57D-28A7-8EA18C7D2292}"/>
          </ac:picMkLst>
        </pc:picChg>
      </pc:sldChg>
      <pc:sldChg chg="addSp modSp mod">
        <pc:chgData name="玳如 劉" userId="57117983bbab1dfe" providerId="LiveId" clId="{88C8B942-2A23-4B58-AE9A-40DBB63FF690}" dt="2025-12-06T16:59:34.647" v="139" actId="27636"/>
        <pc:sldMkLst>
          <pc:docMk/>
          <pc:sldMk cId="0" sldId="258"/>
        </pc:sldMkLst>
        <pc:spChg chg="mod">
          <ac:chgData name="玳如 劉" userId="57117983bbab1dfe" providerId="LiveId" clId="{88C8B942-2A23-4B58-AE9A-40DBB63FF690}" dt="2025-12-06T16:36:36.077" v="41" actId="2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玳如 劉" userId="57117983bbab1dfe" providerId="LiveId" clId="{88C8B942-2A23-4B58-AE9A-40DBB63FF690}" dt="2025-12-06T16:59:34.647" v="139" actId="27636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玳如 劉" userId="57117983bbab1dfe" providerId="LiveId" clId="{88C8B942-2A23-4B58-AE9A-40DBB63FF690}" dt="2025-12-06T16:58:39.143" v="133" actId="1076"/>
          <ac:picMkLst>
            <pc:docMk/>
            <pc:sldMk cId="0" sldId="258"/>
            <ac:picMk id="5" creationId="{7AF050AE-38C4-62FE-B3DD-90435A2C1383}"/>
          </ac:picMkLst>
        </pc:picChg>
      </pc:sldChg>
      <pc:sldChg chg="addSp modSp mod">
        <pc:chgData name="玳如 劉" userId="57117983bbab1dfe" providerId="LiveId" clId="{88C8B942-2A23-4B58-AE9A-40DBB63FF690}" dt="2025-12-06T17:07:42.444" v="202" actId="14100"/>
        <pc:sldMkLst>
          <pc:docMk/>
          <pc:sldMk cId="0" sldId="259"/>
        </pc:sldMkLst>
        <pc:spChg chg="mod">
          <ac:chgData name="玳如 劉" userId="57117983bbab1dfe" providerId="LiveId" clId="{88C8B942-2A23-4B58-AE9A-40DBB63FF690}" dt="2025-12-06T16:37:36.924" v="51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玳如 劉" userId="57117983bbab1dfe" providerId="LiveId" clId="{88C8B942-2A23-4B58-AE9A-40DBB63FF690}" dt="2025-12-06T17:07:35.795" v="201" actId="27636"/>
          <ac:spMkLst>
            <pc:docMk/>
            <pc:sldMk cId="0" sldId="259"/>
            <ac:spMk id="3" creationId="{00000000-0000-0000-0000-000000000000}"/>
          </ac:spMkLst>
        </pc:spChg>
        <pc:picChg chg="add mod modCrop">
          <ac:chgData name="玳如 劉" userId="57117983bbab1dfe" providerId="LiveId" clId="{88C8B942-2A23-4B58-AE9A-40DBB63FF690}" dt="2025-12-06T17:07:42.444" v="202" actId="14100"/>
          <ac:picMkLst>
            <pc:docMk/>
            <pc:sldMk cId="0" sldId="259"/>
            <ac:picMk id="5" creationId="{C56E3982-8FC2-042F-A95F-AA9D0A78BDDF}"/>
          </ac:picMkLst>
        </pc:picChg>
      </pc:sldChg>
      <pc:sldChg chg="addSp modSp mod">
        <pc:chgData name="玳如 劉" userId="57117983bbab1dfe" providerId="LiveId" clId="{88C8B942-2A23-4B58-AE9A-40DBB63FF690}" dt="2025-12-06T17:02:53.391" v="161" actId="1076"/>
        <pc:sldMkLst>
          <pc:docMk/>
          <pc:sldMk cId="0" sldId="260"/>
        </pc:sldMkLst>
        <pc:spChg chg="mod">
          <ac:chgData name="玳如 劉" userId="57117983bbab1dfe" providerId="LiveId" clId="{88C8B942-2A23-4B58-AE9A-40DBB63FF690}" dt="2025-12-06T16:47:31.339" v="74" actId="255"/>
          <ac:spMkLst>
            <pc:docMk/>
            <pc:sldMk cId="0" sldId="260"/>
            <ac:spMk id="2" creationId="{00000000-0000-0000-0000-000000000000}"/>
          </ac:spMkLst>
        </pc:spChg>
        <pc:spChg chg="mod">
          <ac:chgData name="玳如 劉" userId="57117983bbab1dfe" providerId="LiveId" clId="{88C8B942-2A23-4B58-AE9A-40DBB63FF690}" dt="2025-12-06T17:02:43.628" v="157" actId="14100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玳如 劉" userId="57117983bbab1dfe" providerId="LiveId" clId="{88C8B942-2A23-4B58-AE9A-40DBB63FF690}" dt="2025-12-06T17:02:45.953" v="158" actId="14100"/>
          <ac:spMkLst>
            <pc:docMk/>
            <pc:sldMk cId="0" sldId="260"/>
            <ac:spMk id="6" creationId="{2556EEF6-0236-E7B1-B4A0-972A2548E337}"/>
          </ac:spMkLst>
        </pc:spChg>
        <pc:picChg chg="add mod">
          <ac:chgData name="玳如 劉" userId="57117983bbab1dfe" providerId="LiveId" clId="{88C8B942-2A23-4B58-AE9A-40DBB63FF690}" dt="2025-12-06T17:02:53.391" v="161" actId="1076"/>
          <ac:picMkLst>
            <pc:docMk/>
            <pc:sldMk cId="0" sldId="260"/>
            <ac:picMk id="5" creationId="{BA810A0D-49DC-BFCA-F99F-4BD3EFB81DCF}"/>
          </ac:picMkLst>
        </pc:picChg>
      </pc:sldChg>
      <pc:sldChg chg="addSp modSp mod">
        <pc:chgData name="玳如 劉" userId="57117983bbab1dfe" providerId="LiveId" clId="{88C8B942-2A23-4B58-AE9A-40DBB63FF690}" dt="2025-12-06T17:03:34.100" v="169" actId="14100"/>
        <pc:sldMkLst>
          <pc:docMk/>
          <pc:sldMk cId="0" sldId="261"/>
        </pc:sldMkLst>
        <pc:spChg chg="mod">
          <ac:chgData name="玳如 劉" userId="57117983bbab1dfe" providerId="LiveId" clId="{88C8B942-2A23-4B58-AE9A-40DBB63FF690}" dt="2025-12-06T16:48:05.699" v="78" actId="255"/>
          <ac:spMkLst>
            <pc:docMk/>
            <pc:sldMk cId="0" sldId="261"/>
            <ac:spMk id="2" creationId="{00000000-0000-0000-0000-000000000000}"/>
          </ac:spMkLst>
        </pc:spChg>
        <pc:spChg chg="mod">
          <ac:chgData name="玳如 劉" userId="57117983bbab1dfe" providerId="LiveId" clId="{88C8B942-2A23-4B58-AE9A-40DBB63FF690}" dt="2025-12-06T17:03:25.848" v="167" actId="2710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玳如 劉" userId="57117983bbab1dfe" providerId="LiveId" clId="{88C8B942-2A23-4B58-AE9A-40DBB63FF690}" dt="2025-12-06T17:03:34.100" v="169" actId="14100"/>
          <ac:picMkLst>
            <pc:docMk/>
            <pc:sldMk cId="0" sldId="261"/>
            <ac:picMk id="5" creationId="{C1696329-7EC1-ED57-5252-646DF44B5833}"/>
          </ac:picMkLst>
        </pc:picChg>
      </pc:sldChg>
      <pc:sldChg chg="addSp modSp mod">
        <pc:chgData name="玳如 劉" userId="57117983bbab1dfe" providerId="LiveId" clId="{88C8B942-2A23-4B58-AE9A-40DBB63FF690}" dt="2025-12-06T17:04:09.895" v="177" actId="14100"/>
        <pc:sldMkLst>
          <pc:docMk/>
          <pc:sldMk cId="0" sldId="262"/>
        </pc:sldMkLst>
        <pc:spChg chg="mod">
          <ac:chgData name="玳如 劉" userId="57117983bbab1dfe" providerId="LiveId" clId="{88C8B942-2A23-4B58-AE9A-40DBB63FF690}" dt="2025-12-06T16:50:15.329" v="113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玳如 劉" userId="57117983bbab1dfe" providerId="LiveId" clId="{88C8B942-2A23-4B58-AE9A-40DBB63FF690}" dt="2025-12-06T16:50:21.056" v="114" actId="255"/>
          <ac:spMkLst>
            <pc:docMk/>
            <pc:sldMk cId="0" sldId="262"/>
            <ac:spMk id="3" creationId="{00000000-0000-0000-0000-000000000000}"/>
          </ac:spMkLst>
        </pc:spChg>
        <pc:picChg chg="add mod">
          <ac:chgData name="玳如 劉" userId="57117983bbab1dfe" providerId="LiveId" clId="{88C8B942-2A23-4B58-AE9A-40DBB63FF690}" dt="2025-12-06T17:04:09.895" v="177" actId="14100"/>
          <ac:picMkLst>
            <pc:docMk/>
            <pc:sldMk cId="0" sldId="262"/>
            <ac:picMk id="5" creationId="{3AECA6AC-FD8A-45F7-FD53-8A3CECA331F8}"/>
          </ac:picMkLst>
        </pc:picChg>
      </pc:sldChg>
      <pc:sldChg chg="addSp modSp mod">
        <pc:chgData name="玳如 劉" userId="57117983bbab1dfe" providerId="LiveId" clId="{88C8B942-2A23-4B58-AE9A-40DBB63FF690}" dt="2025-12-06T17:05:05.925" v="192" actId="14100"/>
        <pc:sldMkLst>
          <pc:docMk/>
          <pc:sldMk cId="0" sldId="263"/>
        </pc:sldMkLst>
        <pc:spChg chg="mod">
          <ac:chgData name="玳如 劉" userId="57117983bbab1dfe" providerId="LiveId" clId="{88C8B942-2A23-4B58-AE9A-40DBB63FF690}" dt="2025-12-06T16:50:37.079" v="116" actId="255"/>
          <ac:spMkLst>
            <pc:docMk/>
            <pc:sldMk cId="0" sldId="263"/>
            <ac:spMk id="2" creationId="{00000000-0000-0000-0000-000000000000}"/>
          </ac:spMkLst>
        </pc:spChg>
        <pc:spChg chg="mod">
          <ac:chgData name="玳如 劉" userId="57117983bbab1dfe" providerId="LiveId" clId="{88C8B942-2A23-4B58-AE9A-40DBB63FF690}" dt="2025-12-06T17:04:52.696" v="189" actId="27636"/>
          <ac:spMkLst>
            <pc:docMk/>
            <pc:sldMk cId="0" sldId="263"/>
            <ac:spMk id="3" creationId="{00000000-0000-0000-0000-000000000000}"/>
          </ac:spMkLst>
        </pc:spChg>
        <pc:picChg chg="add mod">
          <ac:chgData name="玳如 劉" userId="57117983bbab1dfe" providerId="LiveId" clId="{88C8B942-2A23-4B58-AE9A-40DBB63FF690}" dt="2025-12-06T17:05:05.925" v="192" actId="14100"/>
          <ac:picMkLst>
            <pc:docMk/>
            <pc:sldMk cId="0" sldId="263"/>
            <ac:picMk id="5" creationId="{9263789F-5173-61D4-E993-AE43FD7908FF}"/>
          </ac:picMkLst>
        </pc:picChg>
      </pc:sldChg>
      <pc:sldChg chg="addSp modSp mod">
        <pc:chgData name="玳如 劉" userId="57117983bbab1dfe" providerId="LiveId" clId="{88C8B942-2A23-4B58-AE9A-40DBB63FF690}" dt="2025-12-06T17:10:04.912" v="209" actId="14100"/>
        <pc:sldMkLst>
          <pc:docMk/>
          <pc:sldMk cId="0" sldId="264"/>
        </pc:sldMkLst>
        <pc:spChg chg="mod">
          <ac:chgData name="玳如 劉" userId="57117983bbab1dfe" providerId="LiveId" clId="{88C8B942-2A23-4B58-AE9A-40DBB63FF690}" dt="2025-12-06T16:50:59.193" v="120" actId="255"/>
          <ac:spMkLst>
            <pc:docMk/>
            <pc:sldMk cId="0" sldId="264"/>
            <ac:spMk id="2" creationId="{00000000-0000-0000-0000-000000000000}"/>
          </ac:spMkLst>
        </pc:spChg>
        <pc:spChg chg="mod">
          <ac:chgData name="玳如 劉" userId="57117983bbab1dfe" providerId="LiveId" clId="{88C8B942-2A23-4B58-AE9A-40DBB63FF690}" dt="2025-12-06T16:51:13.850" v="123" actId="14100"/>
          <ac:spMkLst>
            <pc:docMk/>
            <pc:sldMk cId="0" sldId="264"/>
            <ac:spMk id="3" creationId="{00000000-0000-0000-0000-000000000000}"/>
          </ac:spMkLst>
        </pc:spChg>
        <pc:picChg chg="add mod">
          <ac:chgData name="玳如 劉" userId="57117983bbab1dfe" providerId="LiveId" clId="{88C8B942-2A23-4B58-AE9A-40DBB63FF690}" dt="2025-12-06T17:10:04.912" v="209" actId="14100"/>
          <ac:picMkLst>
            <pc:docMk/>
            <pc:sldMk cId="0" sldId="264"/>
            <ac:picMk id="5" creationId="{ACD55CCE-E673-19A2-58D4-EAB50B36FF22}"/>
          </ac:picMkLst>
        </pc:picChg>
      </pc:sldChg>
      <pc:sldChg chg="del">
        <pc:chgData name="玳如 劉" userId="57117983bbab1dfe" providerId="LiveId" clId="{88C8B942-2A23-4B58-AE9A-40DBB63FF690}" dt="2025-12-06T16:34:43.394" v="0" actId="2696"/>
        <pc:sldMkLst>
          <pc:docMk/>
          <pc:sldMk cId="0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58062" y="2286000"/>
            <a:ext cx="5314275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E3A5F"/>
                </a:solidFill>
              </a:defRPr>
            </a:pPr>
            <a:r>
              <a:rPr sz="5000"/>
              <a:t>腎臟疾病預測分析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0255" y="4114800"/>
            <a:ext cx="13649891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rPr sz="5000"/>
              <a:t>基於機器學習的決策樹與邏輯回歸模型比較研究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68838" y="5943600"/>
            <a:ext cx="218040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lang="en-US" sz="2000" dirty="0"/>
              <a:t>142216015 </a:t>
            </a:r>
            <a:r>
              <a:rPr lang="zh-TW" altLang="en-US" sz="2000" dirty="0"/>
              <a:t>劉玳如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274638"/>
            <a:ext cx="8229600" cy="1143000"/>
          </a:xfrm>
        </p:spPr>
        <p:txBody>
          <a:bodyPr>
            <a:normAutofit/>
          </a:bodyPr>
          <a:lstStyle/>
          <a:p>
            <a:r>
              <a:rPr sz="5000" dirty="0" err="1"/>
              <a:t>研究概述</a:t>
            </a:r>
            <a:endParaRPr sz="5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6354762"/>
          </a:xfrm>
        </p:spPr>
        <p:txBody>
          <a:bodyPr>
            <a:norm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rPr sz="2500" dirty="0" err="1"/>
              <a:t>研究目標</a:t>
            </a:r>
            <a:endParaRPr sz="2500" dirty="0"/>
          </a:p>
          <a:p>
            <a:pPr lvl="1">
              <a:lnSpc>
                <a:spcPct val="300000"/>
              </a:lnSpc>
              <a:defRPr sz="1600"/>
            </a:pPr>
            <a:r>
              <a:rPr sz="2500" dirty="0"/>
              <a:t>• </a:t>
            </a:r>
            <a:r>
              <a:rPr sz="2500" dirty="0" err="1"/>
              <a:t>建立腎臟疾病預測模型，協助早期診斷</a:t>
            </a:r>
            <a:endParaRPr sz="2500" dirty="0"/>
          </a:p>
          <a:p>
            <a:pPr lvl="1">
              <a:lnSpc>
                <a:spcPct val="300000"/>
              </a:lnSpc>
              <a:defRPr sz="1600"/>
            </a:pPr>
            <a:r>
              <a:rPr sz="2500" dirty="0"/>
              <a:t>• </a:t>
            </a:r>
            <a:r>
              <a:rPr sz="2500" dirty="0" err="1"/>
              <a:t>比較決策樹與邏輯回歸算法性能</a:t>
            </a:r>
            <a:endParaRPr sz="2500" dirty="0"/>
          </a:p>
          <a:p>
            <a:pPr lvl="1">
              <a:lnSpc>
                <a:spcPct val="300000"/>
              </a:lnSpc>
              <a:defRPr sz="1600"/>
            </a:pPr>
            <a:r>
              <a:rPr sz="2500" dirty="0"/>
              <a:t>• </a:t>
            </a:r>
            <a:r>
              <a:rPr sz="2500" dirty="0" err="1"/>
              <a:t>處理醫療數據中的不平衡問題</a:t>
            </a:r>
            <a:endParaRPr sz="2500" dirty="0"/>
          </a:p>
          <a:p>
            <a:pPr lvl="1">
              <a:lnSpc>
                <a:spcPct val="300000"/>
              </a:lnSpc>
              <a:defRPr sz="1600"/>
            </a:pPr>
            <a:r>
              <a:rPr sz="2500" dirty="0"/>
              <a:t>• </a:t>
            </a:r>
            <a:r>
              <a:rPr sz="2500" dirty="0" err="1"/>
              <a:t>提供可解釋的機器學習解決方案</a:t>
            </a:r>
            <a:endParaRPr sz="2500" dirty="0"/>
          </a:p>
        </p:txBody>
      </p:sp>
      <p:pic>
        <p:nvPicPr>
          <p:cNvPr id="5" name="圖片 4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2A904552-A3DA-B57D-28A7-8EA18C7D2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13" y="3026659"/>
            <a:ext cx="7205487" cy="44622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335916"/>
            <a:ext cx="8229600" cy="1143000"/>
          </a:xfrm>
        </p:spPr>
        <p:txBody>
          <a:bodyPr>
            <a:normAutofit/>
          </a:bodyPr>
          <a:lstStyle/>
          <a:p>
            <a:r>
              <a:rPr sz="5000" dirty="0" err="1"/>
              <a:t>數據前處理</a:t>
            </a:r>
            <a:endParaRPr sz="5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36320"/>
            <a:ext cx="7315200" cy="685736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20000"/>
              </a:lnSpc>
            </a:pPr>
            <a:r>
              <a:rPr sz="2500" b="1" dirty="0" err="1">
                <a:solidFill>
                  <a:srgbClr val="1E3A5F"/>
                </a:solidFill>
              </a:rPr>
              <a:t>主要處理步驟</a:t>
            </a:r>
            <a:endParaRPr sz="2500" b="1" dirty="0">
              <a:solidFill>
                <a:srgbClr val="1E3A5F"/>
              </a:solidFill>
            </a:endParaRPr>
          </a:p>
          <a:p>
            <a:pPr lvl="1">
              <a:lnSpc>
                <a:spcPct val="220000"/>
              </a:lnSpc>
            </a:pPr>
            <a:r>
              <a:rPr sz="2500" dirty="0"/>
              <a:t>• </a:t>
            </a:r>
            <a:r>
              <a:rPr sz="2500" dirty="0" err="1"/>
              <a:t>數據載入：讀取kidney_disease.csv，檢查數據結構</a:t>
            </a:r>
            <a:endParaRPr sz="2500" dirty="0"/>
          </a:p>
          <a:p>
            <a:pPr lvl="1">
              <a:lnSpc>
                <a:spcPct val="220000"/>
              </a:lnSpc>
            </a:pPr>
            <a:r>
              <a:rPr sz="2500" dirty="0"/>
              <a:t>• </a:t>
            </a:r>
            <a:r>
              <a:rPr sz="2500" dirty="0" err="1"/>
              <a:t>遺失值處理：使用中位數填補數值型變數</a:t>
            </a:r>
            <a:endParaRPr sz="2500" dirty="0"/>
          </a:p>
          <a:p>
            <a:pPr lvl="1">
              <a:lnSpc>
                <a:spcPct val="220000"/>
              </a:lnSpc>
            </a:pPr>
            <a:r>
              <a:rPr sz="2500" dirty="0"/>
              <a:t>• </a:t>
            </a:r>
            <a:r>
              <a:rPr sz="2500" dirty="0" err="1"/>
              <a:t>特徵工程：移除ID欄位，標準化數值特徵</a:t>
            </a:r>
            <a:endParaRPr sz="2500" dirty="0"/>
          </a:p>
          <a:p>
            <a:pPr lvl="1">
              <a:lnSpc>
                <a:spcPct val="220000"/>
              </a:lnSpc>
            </a:pPr>
            <a:r>
              <a:rPr sz="2500" dirty="0"/>
              <a:t>• 數據分割：80%訓練集，20%測試集</a:t>
            </a:r>
          </a:p>
          <a:p>
            <a:pPr lvl="1">
              <a:lnSpc>
                <a:spcPct val="220000"/>
              </a:lnSpc>
            </a:pPr>
            <a:r>
              <a:rPr sz="2500" dirty="0"/>
              <a:t>• </a:t>
            </a:r>
            <a:r>
              <a:rPr sz="2500" dirty="0" err="1"/>
              <a:t>分層採樣：保持類別比例一致</a:t>
            </a:r>
            <a:endParaRPr sz="2500" dirty="0"/>
          </a:p>
        </p:txBody>
      </p:sp>
      <p:pic>
        <p:nvPicPr>
          <p:cNvPr id="5" name="圖片 4" descr="一張含有 文字, 螢幕擷取畫面, 圖表, 行 的圖片&#10;&#10;AI 產生的內容可能不正確。">
            <a:extLst>
              <a:ext uri="{FF2B5EF4-FFF2-40B4-BE49-F238E27FC236}">
                <a16:creationId xmlns:a16="http://schemas.microsoft.com/office/drawing/2014/main" id="{7AF050AE-38C4-62FE-B3DD-90435A2C1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267" y="1660524"/>
            <a:ext cx="6572662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259716"/>
            <a:ext cx="8229600" cy="1143000"/>
          </a:xfrm>
        </p:spPr>
        <p:txBody>
          <a:bodyPr>
            <a:normAutofit/>
          </a:bodyPr>
          <a:lstStyle/>
          <a:p>
            <a:r>
              <a:rPr sz="5000" dirty="0" err="1"/>
              <a:t>模型建立與交叉驗證</a:t>
            </a:r>
            <a:endParaRPr sz="5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34440"/>
            <a:ext cx="6370320" cy="652272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defRPr sz="2000" b="1">
                <a:solidFill>
                  <a:srgbClr val="1E3A5F"/>
                </a:solidFill>
              </a:defRPr>
            </a:pPr>
            <a:r>
              <a:rPr sz="2500" dirty="0" err="1"/>
              <a:t>決策樹</a:t>
            </a:r>
            <a:r>
              <a:rPr sz="2500" dirty="0"/>
              <a:t> (Decision Tree)</a:t>
            </a:r>
          </a:p>
          <a:p>
            <a:pPr lvl="1">
              <a:lnSpc>
                <a:spcPct val="150000"/>
              </a:lnSpc>
              <a:defRPr sz="1400"/>
            </a:pPr>
            <a:r>
              <a:rPr sz="2500" dirty="0"/>
              <a:t>• </a:t>
            </a:r>
            <a:r>
              <a:rPr sz="2500" dirty="0" err="1"/>
              <a:t>算法特點：直觀易理解的樹狀結構</a:t>
            </a:r>
            <a:endParaRPr sz="2500" dirty="0"/>
          </a:p>
          <a:p>
            <a:pPr lvl="1">
              <a:lnSpc>
                <a:spcPct val="150000"/>
              </a:lnSpc>
              <a:defRPr sz="1400"/>
            </a:pPr>
            <a:r>
              <a:rPr sz="2500" dirty="0"/>
              <a:t>• </a:t>
            </a:r>
            <a:r>
              <a:rPr sz="2500" dirty="0" err="1"/>
              <a:t>分割標準：Gini係數與信息熵</a:t>
            </a:r>
            <a:endParaRPr sz="2500" dirty="0"/>
          </a:p>
          <a:p>
            <a:pPr lvl="1">
              <a:lnSpc>
                <a:spcPct val="150000"/>
              </a:lnSpc>
              <a:defRPr sz="1400"/>
            </a:pPr>
            <a:r>
              <a:rPr sz="2500" dirty="0"/>
              <a:t>• </a:t>
            </a:r>
            <a:r>
              <a:rPr sz="2500" dirty="0" err="1"/>
              <a:t>優點：可解釋性強、處理非線性關係</a:t>
            </a:r>
            <a:endParaRPr sz="2500" dirty="0"/>
          </a:p>
          <a:p>
            <a:pPr lvl="1">
              <a:lnSpc>
                <a:spcPct val="150000"/>
              </a:lnSpc>
              <a:defRPr sz="1400"/>
            </a:pPr>
            <a:r>
              <a:rPr sz="2500" dirty="0"/>
              <a:t>• </a:t>
            </a:r>
            <a:r>
              <a:rPr sz="2500" dirty="0" err="1"/>
              <a:t>缺點：容易過擬合</a:t>
            </a:r>
            <a:endParaRPr sz="2500" dirty="0"/>
          </a:p>
          <a:p>
            <a:pPr lvl="1">
              <a:lnSpc>
                <a:spcPct val="150000"/>
              </a:lnSpc>
              <a:defRPr sz="1400"/>
            </a:pPr>
            <a:r>
              <a:rPr sz="2500" dirty="0"/>
              <a:t>• 交叉驗證準確率：0.9500 ± 0.0284</a:t>
            </a:r>
          </a:p>
          <a:p>
            <a:pPr>
              <a:lnSpc>
                <a:spcPct val="150000"/>
              </a:lnSpc>
              <a:defRPr sz="2000" b="1">
                <a:solidFill>
                  <a:srgbClr val="1E3A5F"/>
                </a:solidFill>
              </a:defRPr>
            </a:pPr>
            <a:r>
              <a:rPr sz="2500" dirty="0" err="1"/>
              <a:t>邏輯回歸</a:t>
            </a:r>
            <a:r>
              <a:rPr sz="2500" dirty="0"/>
              <a:t> (Logistic Regression)</a:t>
            </a:r>
          </a:p>
          <a:p>
            <a:pPr lvl="1">
              <a:lnSpc>
                <a:spcPct val="150000"/>
              </a:lnSpc>
              <a:defRPr sz="1400"/>
            </a:pPr>
            <a:r>
              <a:rPr sz="2500" dirty="0"/>
              <a:t>• </a:t>
            </a:r>
            <a:r>
              <a:rPr sz="2500" dirty="0" err="1"/>
              <a:t>算法特點：線性分類器，輸出機率</a:t>
            </a:r>
            <a:endParaRPr sz="2500" dirty="0"/>
          </a:p>
          <a:p>
            <a:pPr lvl="1">
              <a:lnSpc>
                <a:spcPct val="150000"/>
              </a:lnSpc>
              <a:defRPr sz="1400"/>
            </a:pPr>
            <a:r>
              <a:rPr sz="2500" dirty="0"/>
              <a:t>• </a:t>
            </a:r>
            <a:r>
              <a:rPr sz="2500" dirty="0" err="1"/>
              <a:t>激活函數：Sigmoid函數</a:t>
            </a:r>
            <a:endParaRPr sz="2500" dirty="0"/>
          </a:p>
          <a:p>
            <a:pPr lvl="1">
              <a:lnSpc>
                <a:spcPct val="150000"/>
              </a:lnSpc>
              <a:defRPr sz="1400"/>
            </a:pPr>
            <a:r>
              <a:rPr sz="2500" dirty="0"/>
              <a:t>• </a:t>
            </a:r>
            <a:r>
              <a:rPr sz="2500" dirty="0" err="1"/>
              <a:t>優點：計算效率高、輸出機率</a:t>
            </a:r>
            <a:endParaRPr sz="2500" dirty="0"/>
          </a:p>
          <a:p>
            <a:pPr lvl="1">
              <a:lnSpc>
                <a:spcPct val="150000"/>
              </a:lnSpc>
              <a:defRPr sz="1400"/>
            </a:pPr>
            <a:r>
              <a:rPr sz="2500" dirty="0"/>
              <a:t>• </a:t>
            </a:r>
            <a:r>
              <a:rPr sz="2500" dirty="0" err="1"/>
              <a:t>缺點：假設線性可分</a:t>
            </a:r>
            <a:endParaRPr sz="2500" dirty="0"/>
          </a:p>
          <a:p>
            <a:pPr lvl="1">
              <a:lnSpc>
                <a:spcPct val="150000"/>
              </a:lnSpc>
              <a:defRPr sz="1400"/>
            </a:pPr>
            <a:r>
              <a:rPr sz="2500" dirty="0"/>
              <a:t>• 交叉驗證準確率：0.9375 ± 0.0312</a:t>
            </a:r>
          </a:p>
        </p:txBody>
      </p:sp>
      <p:pic>
        <p:nvPicPr>
          <p:cNvPr id="5" name="圖片 4" descr="一張含有 文字, 圖表, 螢幕擷取畫面, 方案 的圖片&#10;&#10;AI 產生的內容可能不正確。">
            <a:extLst>
              <a:ext uri="{FF2B5EF4-FFF2-40B4-BE49-F238E27FC236}">
                <a16:creationId xmlns:a16="http://schemas.microsoft.com/office/drawing/2014/main" id="{C56E3982-8FC2-042F-A95F-AA9D0A78BD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34" r="10625"/>
          <a:stretch>
            <a:fillRect/>
          </a:stretch>
        </p:blipFill>
        <p:spPr>
          <a:xfrm>
            <a:off x="5730240" y="1234440"/>
            <a:ext cx="8900161" cy="6888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274638"/>
            <a:ext cx="8229600" cy="1143000"/>
          </a:xfrm>
        </p:spPr>
        <p:txBody>
          <a:bodyPr>
            <a:normAutofit/>
          </a:bodyPr>
          <a:lstStyle/>
          <a:p>
            <a:r>
              <a:rPr sz="5000" dirty="0" err="1"/>
              <a:t>混淆矩陣與評估指標</a:t>
            </a:r>
            <a:endParaRPr sz="5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1310641"/>
            <a:ext cx="7223760" cy="2301240"/>
          </a:xfrm>
        </p:spPr>
        <p:txBody>
          <a:bodyPr>
            <a:no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rPr sz="3000" dirty="0"/>
              <a:t>Precision &amp; Recall </a:t>
            </a:r>
            <a:r>
              <a:rPr sz="3000" dirty="0" err="1"/>
              <a:t>解釋</a:t>
            </a:r>
            <a:endParaRPr sz="3000" dirty="0"/>
          </a:p>
          <a:p>
            <a:pPr>
              <a:defRPr sz="1600" b="1">
                <a:solidFill>
                  <a:srgbClr val="E74C3C"/>
                </a:solidFill>
              </a:defRPr>
            </a:pPr>
            <a:r>
              <a:rPr sz="3000" dirty="0"/>
              <a:t>Precision (</a:t>
            </a:r>
            <a:r>
              <a:rPr sz="3000" dirty="0" err="1"/>
              <a:t>精確率</a:t>
            </a:r>
            <a:r>
              <a:rPr sz="3000" dirty="0"/>
              <a:t>)</a:t>
            </a:r>
          </a:p>
          <a:p>
            <a:pPr lvl="1">
              <a:defRPr sz="1400"/>
            </a:pPr>
            <a:r>
              <a:rPr sz="3000" dirty="0"/>
              <a:t>• </a:t>
            </a:r>
            <a:r>
              <a:rPr sz="3000" dirty="0" err="1"/>
              <a:t>公式：TP</a:t>
            </a:r>
            <a:r>
              <a:rPr sz="3000" dirty="0"/>
              <a:t> / (TP + FP)</a:t>
            </a:r>
          </a:p>
          <a:p>
            <a:pPr lvl="1">
              <a:defRPr sz="1400"/>
            </a:pPr>
            <a:r>
              <a:rPr sz="3000" dirty="0"/>
              <a:t>• </a:t>
            </a:r>
            <a:r>
              <a:rPr sz="3000" dirty="0" err="1"/>
              <a:t>意義：所有預測為陽性的樣本中，實際為陽性的比例</a:t>
            </a:r>
            <a:endParaRPr sz="3000" dirty="0"/>
          </a:p>
        </p:txBody>
      </p:sp>
      <p:pic>
        <p:nvPicPr>
          <p:cNvPr id="5" name="圖片 4" descr="一張含有 螢幕擷取畫面, 鮮豔, 正方形, Rectangle 的圖片&#10;&#10;AI 產生的內容可能不正確。">
            <a:extLst>
              <a:ext uri="{FF2B5EF4-FFF2-40B4-BE49-F238E27FC236}">
                <a16:creationId xmlns:a16="http://schemas.microsoft.com/office/drawing/2014/main" id="{BA810A0D-49DC-BFCA-F99F-4BD3EFB81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330" y="4008120"/>
            <a:ext cx="9951740" cy="422148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556EEF6-0236-E7B1-B4A0-972A2548E337}"/>
              </a:ext>
            </a:extLst>
          </p:cNvPr>
          <p:cNvSpPr txBox="1"/>
          <p:nvPr/>
        </p:nvSpPr>
        <p:spPr>
          <a:xfrm>
            <a:off x="7071360" y="1674675"/>
            <a:ext cx="75590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rPr lang="en-US" altLang="zh-TW" sz="3000" dirty="0"/>
              <a:t>Recall (</a:t>
            </a:r>
            <a:r>
              <a:rPr lang="zh-TW" altLang="en-US" sz="3000" dirty="0"/>
              <a:t>召回率</a:t>
            </a:r>
            <a:r>
              <a:rPr lang="en-US" altLang="zh-TW" sz="3000" dirty="0"/>
              <a:t>)</a:t>
            </a:r>
          </a:p>
          <a:p>
            <a:pPr lvl="1">
              <a:defRPr sz="1400"/>
            </a:pPr>
            <a:r>
              <a:rPr lang="en-US" altLang="zh-TW" sz="3000" dirty="0"/>
              <a:t>• </a:t>
            </a:r>
            <a:r>
              <a:rPr lang="zh-TW" altLang="en-US" sz="3000" dirty="0"/>
              <a:t>公式：</a:t>
            </a:r>
            <a:r>
              <a:rPr lang="en-US" altLang="zh-TW" sz="3000" dirty="0"/>
              <a:t>TP</a:t>
            </a:r>
            <a:r>
              <a:rPr lang="zh-TW" altLang="en-US" sz="3000" dirty="0"/>
              <a:t> </a:t>
            </a:r>
            <a:r>
              <a:rPr lang="en-US" altLang="zh-TW" sz="3000" dirty="0"/>
              <a:t>/ (TP + FN)</a:t>
            </a:r>
          </a:p>
          <a:p>
            <a:pPr lvl="1">
              <a:defRPr sz="1400"/>
            </a:pPr>
            <a:r>
              <a:rPr lang="en-US" altLang="zh-TW" sz="3000" dirty="0"/>
              <a:t>• </a:t>
            </a:r>
            <a:r>
              <a:rPr lang="zh-TW" altLang="en-US" sz="3000" dirty="0"/>
              <a:t>意義：所有實際為陽性的樣本中，被正確預測的比例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274638"/>
            <a:ext cx="8229600" cy="1143000"/>
          </a:xfrm>
        </p:spPr>
        <p:txBody>
          <a:bodyPr>
            <a:normAutofit/>
          </a:bodyPr>
          <a:lstStyle/>
          <a:p>
            <a:r>
              <a:rPr sz="5000" dirty="0" err="1"/>
              <a:t>ROC曲線分析</a:t>
            </a:r>
            <a:endParaRPr sz="5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264920"/>
            <a:ext cx="6942359" cy="4525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 sz="2000" b="1">
                <a:solidFill>
                  <a:srgbClr val="1E3A5F"/>
                </a:solidFill>
              </a:defRPr>
            </a:pPr>
            <a:r>
              <a:rPr sz="3000" dirty="0"/>
              <a:t>ROC-AUC </a:t>
            </a:r>
            <a:r>
              <a:rPr sz="3000" dirty="0" err="1"/>
              <a:t>說明</a:t>
            </a:r>
            <a:endParaRPr sz="3000" dirty="0"/>
          </a:p>
          <a:p>
            <a:pPr lvl="1">
              <a:lnSpc>
                <a:spcPct val="150000"/>
              </a:lnSpc>
              <a:defRPr sz="1400"/>
            </a:pPr>
            <a:r>
              <a:rPr sz="3000" dirty="0"/>
              <a:t>• </a:t>
            </a:r>
            <a:r>
              <a:rPr sz="3000" dirty="0" err="1"/>
              <a:t>ROC曲線：真陽性率</a:t>
            </a:r>
            <a:r>
              <a:rPr sz="3000" dirty="0"/>
              <a:t> vs </a:t>
            </a:r>
            <a:r>
              <a:rPr sz="3000" dirty="0" err="1"/>
              <a:t>假陽性率</a:t>
            </a:r>
            <a:endParaRPr sz="3000" dirty="0"/>
          </a:p>
          <a:p>
            <a:pPr lvl="1">
              <a:lnSpc>
                <a:spcPct val="150000"/>
              </a:lnSpc>
              <a:defRPr sz="1400"/>
            </a:pPr>
            <a:r>
              <a:rPr sz="3000" dirty="0"/>
              <a:t>• AUC值範圍：0到1，越接近1越好</a:t>
            </a:r>
          </a:p>
          <a:p>
            <a:pPr lvl="1">
              <a:lnSpc>
                <a:spcPct val="150000"/>
              </a:lnSpc>
              <a:defRPr sz="1400"/>
            </a:pPr>
            <a:r>
              <a:rPr sz="3000" dirty="0"/>
              <a:t>• 性能評級：0.9+ 卓越，0.8-0.9 優秀，0.7-0.8 </a:t>
            </a:r>
            <a:r>
              <a:rPr sz="3000" dirty="0" err="1"/>
              <a:t>可接受</a:t>
            </a:r>
            <a:endParaRPr sz="3000" dirty="0"/>
          </a:p>
          <a:p>
            <a:pPr lvl="1">
              <a:lnSpc>
                <a:spcPct val="150000"/>
              </a:lnSpc>
              <a:defRPr sz="1400"/>
            </a:pPr>
            <a:r>
              <a:rPr sz="3000" dirty="0"/>
              <a:t>• </a:t>
            </a:r>
            <a:r>
              <a:rPr sz="3000" dirty="0" err="1"/>
              <a:t>決策樹</a:t>
            </a:r>
            <a:r>
              <a:rPr sz="3000" dirty="0"/>
              <a:t> AUC：0.982 (</a:t>
            </a:r>
            <a:r>
              <a:rPr sz="3000" dirty="0" err="1"/>
              <a:t>卓越</a:t>
            </a:r>
            <a:r>
              <a:rPr sz="3000" dirty="0"/>
              <a:t>)</a:t>
            </a:r>
          </a:p>
          <a:p>
            <a:pPr lvl="1">
              <a:lnSpc>
                <a:spcPct val="150000"/>
              </a:lnSpc>
              <a:defRPr sz="1400"/>
            </a:pPr>
            <a:r>
              <a:rPr sz="3000" dirty="0"/>
              <a:t>• </a:t>
            </a:r>
            <a:r>
              <a:rPr sz="3000" dirty="0" err="1"/>
              <a:t>邏輯回歸</a:t>
            </a:r>
            <a:r>
              <a:rPr sz="3000" dirty="0"/>
              <a:t> AUC：0.989 (</a:t>
            </a:r>
            <a:r>
              <a:rPr sz="3000" dirty="0" err="1"/>
              <a:t>卓越</a:t>
            </a:r>
            <a:r>
              <a:rPr sz="3000" dirty="0"/>
              <a:t>)</a:t>
            </a:r>
          </a:p>
          <a:p>
            <a:pPr lvl="1">
              <a:lnSpc>
                <a:spcPct val="150000"/>
              </a:lnSpc>
              <a:defRPr sz="1400"/>
            </a:pPr>
            <a:r>
              <a:rPr sz="3000" dirty="0"/>
              <a:t>• </a:t>
            </a:r>
            <a:r>
              <a:rPr sz="3000" dirty="0" err="1"/>
              <a:t>結果：兩模型都達到卓越等級，邏輯回歸略勝一籌</a:t>
            </a:r>
            <a:endParaRPr sz="3000" dirty="0"/>
          </a:p>
        </p:txBody>
      </p:sp>
      <p:pic>
        <p:nvPicPr>
          <p:cNvPr id="5" name="圖片 4" descr="一張含有 文字, 行, 螢幕擷取畫面, 繪圖 的圖片&#10;&#10;AI 產生的內容可能不正確。">
            <a:extLst>
              <a:ext uri="{FF2B5EF4-FFF2-40B4-BE49-F238E27FC236}">
                <a16:creationId xmlns:a16="http://schemas.microsoft.com/office/drawing/2014/main" id="{C1696329-7EC1-ED57-5252-646DF44B5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558" y="1417638"/>
            <a:ext cx="7230842" cy="58872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366396"/>
            <a:ext cx="8229600" cy="1143000"/>
          </a:xfrm>
        </p:spPr>
        <p:txBody>
          <a:bodyPr>
            <a:normAutofit/>
          </a:bodyPr>
          <a:lstStyle/>
          <a:p>
            <a:r>
              <a:rPr sz="5000" dirty="0" err="1"/>
              <a:t>變數重要性與SHAP分析</a:t>
            </a:r>
            <a:endParaRPr sz="5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rPr sz="3000" dirty="0" err="1"/>
              <a:t>重要特徵發現</a:t>
            </a:r>
            <a:endParaRPr sz="3000" dirty="0"/>
          </a:p>
          <a:p>
            <a:pPr lvl="1">
              <a:defRPr sz="1600"/>
            </a:pPr>
            <a:r>
              <a:rPr sz="3000" dirty="0"/>
              <a:t>• </a:t>
            </a:r>
            <a:r>
              <a:rPr sz="3000" dirty="0" err="1"/>
              <a:t>血紅蛋白：最重要預測因子</a:t>
            </a:r>
            <a:endParaRPr sz="3000" dirty="0"/>
          </a:p>
          <a:p>
            <a:pPr lvl="1">
              <a:defRPr sz="1600"/>
            </a:pPr>
            <a:r>
              <a:rPr sz="3000" dirty="0"/>
              <a:t>• </a:t>
            </a:r>
            <a:r>
              <a:rPr sz="3000" dirty="0" err="1"/>
              <a:t>血清肌酸酐：腎功能直接指標</a:t>
            </a:r>
            <a:endParaRPr sz="3000" dirty="0"/>
          </a:p>
          <a:p>
            <a:pPr lvl="1">
              <a:defRPr sz="1600"/>
            </a:pPr>
            <a:r>
              <a:rPr sz="3000" dirty="0"/>
              <a:t>• </a:t>
            </a:r>
            <a:r>
              <a:rPr sz="3000" dirty="0" err="1"/>
              <a:t>血尿素：腎臟代謝功能指標</a:t>
            </a:r>
            <a:endParaRPr sz="3000" dirty="0"/>
          </a:p>
          <a:p>
            <a:pPr lvl="1">
              <a:defRPr sz="1600"/>
            </a:pPr>
            <a:r>
              <a:rPr sz="3000" dirty="0"/>
              <a:t>• </a:t>
            </a:r>
            <a:r>
              <a:rPr sz="3000" dirty="0" err="1"/>
              <a:t>兩模型識別的重要特徵高度一致</a:t>
            </a:r>
            <a:endParaRPr sz="3000" dirty="0"/>
          </a:p>
          <a:p>
            <a:pPr lvl="1">
              <a:defRPr sz="1600"/>
            </a:pPr>
            <a:r>
              <a:rPr sz="3000" dirty="0"/>
              <a:t>• </a:t>
            </a:r>
            <a:r>
              <a:rPr sz="3000" dirty="0" err="1"/>
              <a:t>SHAP分析提供個別預測解釋</a:t>
            </a:r>
            <a:endParaRPr sz="3000" dirty="0"/>
          </a:p>
          <a:p>
            <a:pPr>
              <a:defRPr sz="1800" b="1">
                <a:solidFill>
                  <a:srgbClr val="1E3A5F"/>
                </a:solidFill>
              </a:defRPr>
            </a:pPr>
            <a:r>
              <a:rPr sz="3000" dirty="0" err="1"/>
              <a:t>臨床意義</a:t>
            </a:r>
            <a:endParaRPr sz="3000" dirty="0"/>
          </a:p>
          <a:p>
            <a:pPr lvl="1">
              <a:defRPr sz="1400"/>
            </a:pPr>
            <a:r>
              <a:rPr sz="3000" dirty="0"/>
              <a:t>• </a:t>
            </a:r>
            <a:r>
              <a:rPr sz="3000" dirty="0" err="1"/>
              <a:t>正係數特徵：增加腎病風險</a:t>
            </a:r>
            <a:endParaRPr sz="3000" dirty="0"/>
          </a:p>
          <a:p>
            <a:pPr lvl="1">
              <a:defRPr sz="1400"/>
            </a:pPr>
            <a:r>
              <a:rPr sz="3000" dirty="0"/>
              <a:t>• </a:t>
            </a:r>
            <a:r>
              <a:rPr sz="3000" dirty="0" err="1"/>
              <a:t>負係數特徵：降低腎病風險</a:t>
            </a:r>
            <a:endParaRPr sz="3000" dirty="0"/>
          </a:p>
          <a:p>
            <a:pPr lvl="1">
              <a:defRPr sz="1400"/>
            </a:pPr>
            <a:r>
              <a:rPr sz="3000" dirty="0"/>
              <a:t>• </a:t>
            </a:r>
            <a:r>
              <a:rPr sz="3000" dirty="0" err="1"/>
              <a:t>可協助醫師理解預測依據</a:t>
            </a:r>
            <a:endParaRPr sz="3000" dirty="0"/>
          </a:p>
        </p:txBody>
      </p:sp>
      <p:pic>
        <p:nvPicPr>
          <p:cNvPr id="5" name="圖片 4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3AECA6AC-FD8A-45F7-FD53-8A3CECA33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1577181"/>
            <a:ext cx="7648970" cy="59429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274638"/>
            <a:ext cx="8229600" cy="1143000"/>
          </a:xfrm>
        </p:spPr>
        <p:txBody>
          <a:bodyPr>
            <a:normAutofit/>
          </a:bodyPr>
          <a:lstStyle/>
          <a:p>
            <a:r>
              <a:rPr sz="5000" dirty="0" err="1"/>
              <a:t>不平衡資料處理</a:t>
            </a:r>
            <a:endParaRPr sz="5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7638"/>
            <a:ext cx="7970520" cy="5760402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defRPr sz="2000" b="1">
                <a:solidFill>
                  <a:srgbClr val="1E3A5F"/>
                </a:solidFill>
              </a:defRPr>
            </a:pPr>
            <a:r>
              <a:rPr sz="3000" dirty="0" err="1"/>
              <a:t>處理方法比較</a:t>
            </a:r>
            <a:endParaRPr sz="3000" dirty="0"/>
          </a:p>
          <a:p>
            <a:pPr lvl="1">
              <a:lnSpc>
                <a:spcPct val="150000"/>
              </a:lnSpc>
              <a:defRPr sz="1400"/>
            </a:pPr>
            <a:r>
              <a:rPr sz="3000" dirty="0"/>
              <a:t>• 原始比例：250:150 (1.67:1 </a:t>
            </a:r>
            <a:r>
              <a:rPr sz="3000" dirty="0" err="1"/>
              <a:t>不平衡率</a:t>
            </a:r>
            <a:r>
              <a:rPr sz="3000" dirty="0"/>
              <a:t>)</a:t>
            </a:r>
          </a:p>
          <a:p>
            <a:pPr lvl="1">
              <a:lnSpc>
                <a:spcPct val="150000"/>
              </a:lnSpc>
              <a:defRPr sz="1400"/>
            </a:pPr>
            <a:r>
              <a:rPr sz="3000" dirty="0"/>
              <a:t>• 方法1 - </a:t>
            </a:r>
            <a:r>
              <a:rPr sz="3000" dirty="0" err="1"/>
              <a:t>類別權重：class_weight</a:t>
            </a:r>
            <a:r>
              <a:rPr sz="3000" dirty="0"/>
              <a:t>='balanced'</a:t>
            </a:r>
          </a:p>
          <a:p>
            <a:pPr lvl="1">
              <a:lnSpc>
                <a:spcPct val="150000"/>
              </a:lnSpc>
              <a:defRPr sz="1400"/>
            </a:pPr>
            <a:r>
              <a:rPr sz="3000" dirty="0"/>
              <a:t>• 方法2 - </a:t>
            </a:r>
            <a:r>
              <a:rPr sz="3000" dirty="0" err="1"/>
              <a:t>SMOTE上採樣：合成少數類樣本</a:t>
            </a:r>
            <a:endParaRPr sz="3000" dirty="0"/>
          </a:p>
          <a:p>
            <a:pPr lvl="1">
              <a:lnSpc>
                <a:spcPct val="150000"/>
              </a:lnSpc>
              <a:defRPr sz="1400"/>
            </a:pPr>
            <a:r>
              <a:rPr sz="3000" dirty="0"/>
              <a:t>• 方法3 - </a:t>
            </a:r>
            <a:r>
              <a:rPr sz="3000" dirty="0" err="1"/>
              <a:t>閾值調整：優化分類閾值</a:t>
            </a:r>
            <a:endParaRPr sz="3000" dirty="0"/>
          </a:p>
          <a:p>
            <a:pPr lvl="1">
              <a:lnSpc>
                <a:spcPct val="150000"/>
              </a:lnSpc>
              <a:defRPr sz="1400"/>
            </a:pPr>
            <a:r>
              <a:rPr sz="3000" dirty="0"/>
              <a:t>• </a:t>
            </a:r>
            <a:r>
              <a:rPr sz="3000" dirty="0" err="1"/>
              <a:t>最佳方法：閾值調整（平衡precision和recall</a:t>
            </a:r>
            <a:r>
              <a:rPr sz="3000" dirty="0"/>
              <a:t>）</a:t>
            </a:r>
          </a:p>
          <a:p>
            <a:pPr lvl="1">
              <a:lnSpc>
                <a:spcPct val="150000"/>
              </a:lnSpc>
              <a:defRPr sz="1400"/>
            </a:pPr>
            <a:r>
              <a:rPr sz="3000" dirty="0"/>
              <a:t>• </a:t>
            </a:r>
            <a:r>
              <a:rPr sz="3000" dirty="0" err="1"/>
              <a:t>醫療建議：優先考慮高召回率，避免漏診</a:t>
            </a:r>
            <a:endParaRPr sz="3000" dirty="0"/>
          </a:p>
        </p:txBody>
      </p:sp>
      <p:pic>
        <p:nvPicPr>
          <p:cNvPr id="5" name="圖片 4" descr="一張含有 文字, 螢幕擷取畫面, 數字, 繪圖 的圖片&#10;&#10;AI 產生的內容可能不正確。">
            <a:extLst>
              <a:ext uri="{FF2B5EF4-FFF2-40B4-BE49-F238E27FC236}">
                <a16:creationId xmlns:a16="http://schemas.microsoft.com/office/drawing/2014/main" id="{9263789F-5173-61D4-E993-AE43FD790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0520" y="1252717"/>
            <a:ext cx="6659880" cy="63063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259716"/>
            <a:ext cx="8229600" cy="1143000"/>
          </a:xfrm>
        </p:spPr>
        <p:txBody>
          <a:bodyPr>
            <a:normAutofit/>
          </a:bodyPr>
          <a:lstStyle/>
          <a:p>
            <a:r>
              <a:rPr sz="5000" dirty="0" err="1"/>
              <a:t>結論與建議</a:t>
            </a:r>
            <a:endParaRPr sz="5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9784080" cy="4525963"/>
          </a:xfrm>
        </p:spPr>
        <p:txBody>
          <a:bodyPr>
            <a:no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rPr sz="3000" dirty="0" err="1"/>
              <a:t>主要發現</a:t>
            </a:r>
            <a:endParaRPr sz="3000" dirty="0"/>
          </a:p>
          <a:p>
            <a:pPr lvl="1">
              <a:defRPr sz="1400"/>
            </a:pPr>
            <a:r>
              <a:rPr sz="3000" dirty="0"/>
              <a:t>• </a:t>
            </a:r>
            <a:r>
              <a:rPr sz="3000" dirty="0" err="1"/>
              <a:t>邏輯回歸表現優於決策樹</a:t>
            </a:r>
            <a:endParaRPr sz="3000" dirty="0"/>
          </a:p>
          <a:p>
            <a:pPr lvl="1">
              <a:defRPr sz="1400"/>
            </a:pPr>
            <a:r>
              <a:rPr sz="3000" dirty="0"/>
              <a:t>• AUC-ROC達0.989，屬卓越等級</a:t>
            </a:r>
          </a:p>
          <a:p>
            <a:pPr lvl="1">
              <a:defRPr sz="1400"/>
            </a:pPr>
            <a:r>
              <a:rPr sz="3000" dirty="0"/>
              <a:t>• </a:t>
            </a:r>
            <a:r>
              <a:rPr sz="3000" dirty="0" err="1"/>
              <a:t>血紅蛋白是最重要預測因子</a:t>
            </a:r>
            <a:endParaRPr sz="3000" dirty="0"/>
          </a:p>
          <a:p>
            <a:pPr lvl="1">
              <a:defRPr sz="1400"/>
            </a:pPr>
            <a:r>
              <a:rPr sz="3000" dirty="0"/>
              <a:t>• </a:t>
            </a:r>
            <a:r>
              <a:rPr sz="3000" dirty="0" err="1"/>
              <a:t>閾值調整能有效平衡precision</a:t>
            </a:r>
            <a:r>
              <a:rPr sz="3000" dirty="0"/>
              <a:t>-recall</a:t>
            </a:r>
          </a:p>
          <a:p>
            <a:pPr lvl="1">
              <a:defRPr sz="1400"/>
            </a:pPr>
            <a:r>
              <a:rPr sz="3000" dirty="0"/>
              <a:t>• </a:t>
            </a:r>
            <a:r>
              <a:rPr sz="3000" dirty="0" err="1"/>
              <a:t>模型具良好泛化能力</a:t>
            </a:r>
            <a:endParaRPr sz="3000" dirty="0"/>
          </a:p>
          <a:p>
            <a:pPr>
              <a:defRPr sz="1800" b="1">
                <a:solidFill>
                  <a:srgbClr val="1E3A5F"/>
                </a:solidFill>
              </a:defRPr>
            </a:pPr>
            <a:r>
              <a:rPr sz="3000" dirty="0" err="1"/>
              <a:t>臨床應用價值</a:t>
            </a:r>
            <a:endParaRPr sz="3000" dirty="0"/>
          </a:p>
          <a:p>
            <a:pPr lvl="1">
              <a:defRPr sz="1400"/>
            </a:pPr>
            <a:r>
              <a:rPr sz="3000" dirty="0"/>
              <a:t>• </a:t>
            </a:r>
            <a:r>
              <a:rPr sz="3000" dirty="0" err="1"/>
              <a:t>早期篩檢：協助識別高風險患者</a:t>
            </a:r>
            <a:endParaRPr sz="3000" dirty="0"/>
          </a:p>
          <a:p>
            <a:pPr lvl="1">
              <a:defRPr sz="1400"/>
            </a:pPr>
            <a:r>
              <a:rPr sz="3000" dirty="0"/>
              <a:t>• </a:t>
            </a:r>
            <a:r>
              <a:rPr sz="3000" dirty="0" err="1"/>
              <a:t>輔助診斷：基於客觀生化指標</a:t>
            </a:r>
            <a:endParaRPr sz="3000" dirty="0"/>
          </a:p>
          <a:p>
            <a:pPr lvl="1">
              <a:defRPr sz="1400"/>
            </a:pPr>
            <a:r>
              <a:rPr sz="3000" dirty="0"/>
              <a:t>• </a:t>
            </a:r>
            <a:r>
              <a:rPr sz="3000" dirty="0" err="1"/>
              <a:t>資源優化：優先安排高風險患者檢查</a:t>
            </a:r>
            <a:endParaRPr sz="3000" dirty="0"/>
          </a:p>
          <a:p>
            <a:pPr lvl="1">
              <a:defRPr sz="1400"/>
            </a:pPr>
            <a:r>
              <a:rPr sz="3000" dirty="0"/>
              <a:t>• </a:t>
            </a:r>
            <a:r>
              <a:rPr sz="3000" dirty="0" err="1"/>
              <a:t>未來改進：收集更多數據、集成方法、外部驗證</a:t>
            </a:r>
            <a:endParaRPr sz="3000" dirty="0"/>
          </a:p>
        </p:txBody>
      </p:sp>
      <p:pic>
        <p:nvPicPr>
          <p:cNvPr id="5" name="圖片 4" descr="一張含有 文字, 鮮豔, 紫丁香, 螢幕擷取畫面 的圖片&#10;&#10;AI 產生的內容可能不正確。">
            <a:extLst>
              <a:ext uri="{FF2B5EF4-FFF2-40B4-BE49-F238E27FC236}">
                <a16:creationId xmlns:a16="http://schemas.microsoft.com/office/drawing/2014/main" id="{ACD55CCE-E673-19A2-58D4-EAB50B36F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880" y="1165700"/>
            <a:ext cx="6827520" cy="59056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355</Words>
  <Application>Microsoft Office PowerPoint</Application>
  <PresentationFormat>自訂</PresentationFormat>
  <Paragraphs>76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簡報</vt:lpstr>
      <vt:lpstr>研究概述</vt:lpstr>
      <vt:lpstr>數據前處理</vt:lpstr>
      <vt:lpstr>模型建立與交叉驗證</vt:lpstr>
      <vt:lpstr>混淆矩陣與評估指標</vt:lpstr>
      <vt:lpstr>ROC曲線分析</vt:lpstr>
      <vt:lpstr>變數重要性與SHAP分析</vt:lpstr>
      <vt:lpstr>不平衡資料處理</vt:lpstr>
      <vt:lpstr>結論與建議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劉玳如</dc:creator>
  <cp:keywords/>
  <dc:description>generated using python-pptx</dc:description>
  <cp:lastModifiedBy>玳如 劉</cp:lastModifiedBy>
  <cp:revision>1</cp:revision>
  <dcterms:created xsi:type="dcterms:W3CDTF">2013-01-27T09:14:16Z</dcterms:created>
  <dcterms:modified xsi:type="dcterms:W3CDTF">2025-12-06T17:10:08Z</dcterms:modified>
  <cp:category/>
</cp:coreProperties>
</file>